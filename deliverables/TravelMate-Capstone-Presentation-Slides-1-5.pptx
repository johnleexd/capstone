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856356-8123-4BF8-8468-9B19C4768C22}"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12C6B7-B86C-460B-8B30-D020F8F31E20}" type="slidenum">
              <a:rPr lang="en-US" smtClean="0"/>
              <a:t>‹#›</a:t>
            </a:fld>
            <a:endParaRPr lang="en-US"/>
          </a:p>
        </p:txBody>
      </p:sp>
    </p:spTree>
    <p:extLst>
      <p:ext uri="{BB962C8B-B14F-4D97-AF65-F5344CB8AC3E}">
        <p14:creationId xmlns:p14="http://schemas.microsoft.com/office/powerpoint/2010/main" val="148828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day. We are presenting TravelMate, our capstone system. The names shown here follow the archived manuscript, so the team should confirm the final roster and spelling before submission. In this short presentation, we will introduce the project, its intended users, the problem it addresses, and its main features.</a:t>
            </a:r>
          </a:p>
        </p:txBody>
      </p:sp>
      <p:sp>
        <p:nvSpPr>
          <p:cNvPr id="4" name="Slide Number Placeholder 3"/>
          <p:cNvSpPr>
            <a:spLocks noGrp="1"/>
          </p:cNvSpPr>
          <p:nvPr>
            <p:ph type="sldNum" sz="quarter" idx="5"/>
          </p:nvPr>
        </p:nvSpPr>
        <p:spPr/>
        <p:txBody>
          <a:bodyPr/>
          <a:lstStyle/>
          <a:p>
            <a:fld id="{E512C6B7-B86C-460B-8B30-D020F8F31E20}" type="slidenum">
              <a:rPr lang="en-US" smtClean="0"/>
              <a:t>1</a:t>
            </a:fld>
            <a:endParaRPr lang="en-US"/>
          </a:p>
        </p:txBody>
      </p:sp>
    </p:spTree>
    <p:extLst>
      <p:ext uri="{BB962C8B-B14F-4D97-AF65-F5344CB8AC3E}">
        <p14:creationId xmlns:p14="http://schemas.microsoft.com/office/powerpoint/2010/main" val="2611651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capstone title is TravelMate: AI-Assisted Travel Planning and Itinerary Management System. A traveler supplies the trip boundaries such as destination, dates, group size, budget, and preferences. TravelMate creates a structured daily plan and keeps related information together, including estimated costs, conditions, maps, saved trips, and visited places.</a:t>
            </a:r>
          </a:p>
        </p:txBody>
      </p:sp>
      <p:sp>
        <p:nvSpPr>
          <p:cNvPr id="4" name="Slide Number Placeholder 3"/>
          <p:cNvSpPr>
            <a:spLocks noGrp="1"/>
          </p:cNvSpPr>
          <p:nvPr>
            <p:ph type="sldNum" sz="quarter" idx="5"/>
          </p:nvPr>
        </p:nvSpPr>
        <p:spPr/>
        <p:txBody>
          <a:bodyPr/>
          <a:lstStyle/>
          <a:p>
            <a:fld id="{E512C6B7-B86C-460B-8B30-D020F8F31E20}" type="slidenum">
              <a:rPr lang="en-US" smtClean="0"/>
              <a:t>2</a:t>
            </a:fld>
            <a:endParaRPr lang="en-US"/>
          </a:p>
        </p:txBody>
      </p:sp>
    </p:spTree>
    <p:extLst>
      <p:ext uri="{BB962C8B-B14F-4D97-AF65-F5344CB8AC3E}">
        <p14:creationId xmlns:p14="http://schemas.microsoft.com/office/powerpoint/2010/main" val="3408611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records do not identify an external client, so we should not invent one. This is an academic capstone project whose stakeholders include the project team, adviser, panel, and institution. Its operational users are travelers, who create and manage trips, and administrators, who manage accounts, feedback, reports, and moderation.</a:t>
            </a:r>
          </a:p>
        </p:txBody>
      </p:sp>
      <p:sp>
        <p:nvSpPr>
          <p:cNvPr id="4" name="Slide Number Placeholder 3"/>
          <p:cNvSpPr>
            <a:spLocks noGrp="1"/>
          </p:cNvSpPr>
          <p:nvPr>
            <p:ph type="sldNum" sz="quarter" idx="5"/>
          </p:nvPr>
        </p:nvSpPr>
        <p:spPr/>
        <p:txBody>
          <a:bodyPr/>
          <a:lstStyle/>
          <a:p>
            <a:fld id="{E512C6B7-B86C-460B-8B30-D020F8F31E20}" type="slidenum">
              <a:rPr lang="en-US" smtClean="0"/>
              <a:t>3</a:t>
            </a:fld>
            <a:endParaRPr lang="en-US"/>
          </a:p>
        </p:txBody>
      </p:sp>
    </p:spTree>
    <p:extLst>
      <p:ext uri="{BB962C8B-B14F-4D97-AF65-F5344CB8AC3E}">
        <p14:creationId xmlns:p14="http://schemas.microsoft.com/office/powerpoint/2010/main" val="594464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Without TravelMate, a traveler must search several websites, assemble a schedule, estimate costs, and update separate notes whenever the plan changes. TravelMate connects those steps. It validates the trip details, generates a structured plan using available place data and an AI provider, recalculates cost context, saves the itinerary, and links activities to maps. The traveler still reviews the result and confirms real prices and availability.</a:t>
            </a:r>
          </a:p>
        </p:txBody>
      </p:sp>
      <p:sp>
        <p:nvSpPr>
          <p:cNvPr id="4" name="Slide Number Placeholder 3"/>
          <p:cNvSpPr>
            <a:spLocks noGrp="1"/>
          </p:cNvSpPr>
          <p:nvPr>
            <p:ph type="sldNum" sz="quarter" idx="5"/>
          </p:nvPr>
        </p:nvSpPr>
        <p:spPr/>
        <p:txBody>
          <a:bodyPr/>
          <a:lstStyle/>
          <a:p>
            <a:fld id="{E512C6B7-B86C-460B-8B30-D020F8F31E20}" type="slidenum">
              <a:rPr lang="en-US" smtClean="0"/>
              <a:t>4</a:t>
            </a:fld>
            <a:endParaRPr lang="en-US"/>
          </a:p>
        </p:txBody>
      </p:sp>
    </p:spTree>
    <p:extLst>
      <p:ext uri="{BB962C8B-B14F-4D97-AF65-F5344CB8AC3E}">
        <p14:creationId xmlns:p14="http://schemas.microsoft.com/office/powerpoint/2010/main" val="624634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Travelers can plan trips from one to thirty-one days, receive activities based on culture and interests, review budget estimates, edit and save trips, view route previews, mark trips complete, and keep visited-place records. Administrators support the platform by managing accounts, feedback, reports, and moderation. The underlying functions include secure sign-in, AI-assisted generation, weather context, accommodation suggestions, saved-trip history, and maps.</a:t>
            </a:r>
          </a:p>
        </p:txBody>
      </p:sp>
      <p:sp>
        <p:nvSpPr>
          <p:cNvPr id="4" name="Slide Number Placeholder 3"/>
          <p:cNvSpPr>
            <a:spLocks noGrp="1"/>
          </p:cNvSpPr>
          <p:nvPr>
            <p:ph type="sldNum" sz="quarter" idx="5"/>
          </p:nvPr>
        </p:nvSpPr>
        <p:spPr/>
        <p:txBody>
          <a:bodyPr/>
          <a:lstStyle/>
          <a:p>
            <a:fld id="{E512C6B7-B86C-460B-8B30-D020F8F31E20}" type="slidenum">
              <a:rPr lang="en-US" smtClean="0"/>
              <a:t>5</a:t>
            </a:fld>
            <a:endParaRPr lang="en-US"/>
          </a:p>
        </p:txBody>
      </p:sp>
    </p:spTree>
    <p:extLst>
      <p:ext uri="{BB962C8B-B14F-4D97-AF65-F5344CB8AC3E}">
        <p14:creationId xmlns:p14="http://schemas.microsoft.com/office/powerpoint/2010/main" val="2018727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3DD12-A059-5BC9-CB41-C32FBC1752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3D9FAE-E28B-CE1E-B000-0D7E0ECEA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10D5E7-3083-30B9-CA28-9EB27ABBE7C5}"/>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5" name="Footer Placeholder 4">
            <a:extLst>
              <a:ext uri="{FF2B5EF4-FFF2-40B4-BE49-F238E27FC236}">
                <a16:creationId xmlns:a16="http://schemas.microsoft.com/office/drawing/2014/main" id="{C713FCA1-A9CC-3462-77DA-67FE84D47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25172A-4350-C00F-1A9E-C03C18232E41}"/>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4111101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3AB9-E139-E6A0-9E77-6B0C982C01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9C0857-D098-2DF3-9DE6-25D7702A41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6099C-0DA1-8B5B-A64D-869BB7738C44}"/>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5" name="Footer Placeholder 4">
            <a:extLst>
              <a:ext uri="{FF2B5EF4-FFF2-40B4-BE49-F238E27FC236}">
                <a16:creationId xmlns:a16="http://schemas.microsoft.com/office/drawing/2014/main" id="{18D4D89A-B8C5-919A-C8DD-9E5353D61B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B55C3D-8721-A025-7F99-E75B82419D4B}"/>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1489620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7963-F5B6-D6BF-94C6-4CBCD4CCFD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1E887F-21AA-9F46-4E5B-D2376B8690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D641A-BEB8-C68F-21D8-E3ABAAB94F36}"/>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5" name="Footer Placeholder 4">
            <a:extLst>
              <a:ext uri="{FF2B5EF4-FFF2-40B4-BE49-F238E27FC236}">
                <a16:creationId xmlns:a16="http://schemas.microsoft.com/office/drawing/2014/main" id="{149ECFCC-6B8E-47A0-18F0-B4FA54CDC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C679D-4E70-34B9-2D3F-549C04D5E962}"/>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41178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99085-F6F9-0E11-1B2A-9599F742C2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A83655-546C-7D0E-7734-94B18493F6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4F5C37-DE72-0E82-DF96-9B7237D674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A1486-96A5-156A-80F7-61261F9BF9D1}"/>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6" name="Footer Placeholder 5">
            <a:extLst>
              <a:ext uri="{FF2B5EF4-FFF2-40B4-BE49-F238E27FC236}">
                <a16:creationId xmlns:a16="http://schemas.microsoft.com/office/drawing/2014/main" id="{CE1FA1CE-8260-F270-51BD-B29BEE277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5B8F69-FD29-5C1B-575B-A52F3A0E20F3}"/>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181868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DD77-F4C9-3492-D44B-313C4148F6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8DA701-5F53-456F-E82A-12CDCA30A2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CAFCF3-D91D-B0FD-5012-712DFDA965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D31D14-1C90-D43A-01E9-514F73F762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E8CC5E-0E25-6353-2398-6B4CFB459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51910A-1A0C-3D43-6674-EF056877656A}"/>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8" name="Footer Placeholder 7">
            <a:extLst>
              <a:ext uri="{FF2B5EF4-FFF2-40B4-BE49-F238E27FC236}">
                <a16:creationId xmlns:a16="http://schemas.microsoft.com/office/drawing/2014/main" id="{A108461F-EAC4-139F-D40D-EF95D1F473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0BC070-9917-8215-021C-13202F630D89}"/>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2375568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AF18-C41D-9A4D-7864-F73DE62205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9B37FA-33A4-995C-1861-8207D1D76918}"/>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4" name="Footer Placeholder 3">
            <a:extLst>
              <a:ext uri="{FF2B5EF4-FFF2-40B4-BE49-F238E27FC236}">
                <a16:creationId xmlns:a16="http://schemas.microsoft.com/office/drawing/2014/main" id="{85F5C857-1CC4-23D4-03DF-2DCDC65E6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10889-E64A-E93F-4EF9-C2450BC49E69}"/>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1928466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BFCAE3-9BEB-AE81-FD18-FD7D22675B00}"/>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3" name="Footer Placeholder 2">
            <a:extLst>
              <a:ext uri="{FF2B5EF4-FFF2-40B4-BE49-F238E27FC236}">
                <a16:creationId xmlns:a16="http://schemas.microsoft.com/office/drawing/2014/main" id="{8D43B6AA-BBC6-8505-0BB7-A2739E793D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3BCED2-640C-2AA4-BB81-1631DE7011DD}"/>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11336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92134-5887-6567-4EB8-D752D6824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DA430E-D846-197E-1C05-CD52D59AC7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6AA852-748A-6A07-8245-6BDC3AA324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F8903-244F-C788-592A-31A9B71ECF91}"/>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6" name="Footer Placeholder 5">
            <a:extLst>
              <a:ext uri="{FF2B5EF4-FFF2-40B4-BE49-F238E27FC236}">
                <a16:creationId xmlns:a16="http://schemas.microsoft.com/office/drawing/2014/main" id="{8F0CA6C1-9846-F3D5-7EED-01626F1662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B99E9-B809-1444-E61F-903E09477A3A}"/>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3234257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0A0C-8860-50FD-B197-E1933F1932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BF48E8-EDF1-02F3-5A90-F50C12D4A2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65878F-63FA-DC1D-AA58-345CE4AE8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F750D-7F3B-B7E0-69FC-445E2597E409}"/>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6" name="Footer Placeholder 5">
            <a:extLst>
              <a:ext uri="{FF2B5EF4-FFF2-40B4-BE49-F238E27FC236}">
                <a16:creationId xmlns:a16="http://schemas.microsoft.com/office/drawing/2014/main" id="{34C18DEC-CF77-5272-4F4C-0F8815127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942F15-86B6-6155-5268-F16F35A03B50}"/>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25823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20E5-066A-49FA-7518-289679DEAF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697BBB-D3D9-DB2D-DCF1-619ABD2BD8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59255-74E8-41EC-0C1A-411099B7AB15}"/>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5" name="Footer Placeholder 4">
            <a:extLst>
              <a:ext uri="{FF2B5EF4-FFF2-40B4-BE49-F238E27FC236}">
                <a16:creationId xmlns:a16="http://schemas.microsoft.com/office/drawing/2014/main" id="{9AD0A5E6-380A-0C72-17A8-FFBFD2F09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D736D-B3B9-99E9-942D-0DA37C42234C}"/>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536428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F65718-D206-9BCC-54B6-5042C875EC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CA67E4-7FE1-0AEF-4705-916FF14CC2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F0A8D-986E-676C-3F74-C39AEC446FD9}"/>
              </a:ext>
            </a:extLst>
          </p:cNvPr>
          <p:cNvSpPr>
            <a:spLocks noGrp="1"/>
          </p:cNvSpPr>
          <p:nvPr>
            <p:ph type="dt" sz="half" idx="10"/>
          </p:nvPr>
        </p:nvSpPr>
        <p:spPr/>
        <p:txBody>
          <a:bodyPr/>
          <a:lstStyle/>
          <a:p>
            <a:fld id="{8F3AF89F-7452-4EBA-81A1-23945DDB5BB7}" type="datetimeFigureOut">
              <a:rPr lang="en-US" smtClean="0"/>
              <a:t>10/17/2026</a:t>
            </a:fld>
            <a:endParaRPr lang="en-US"/>
          </a:p>
        </p:txBody>
      </p:sp>
      <p:sp>
        <p:nvSpPr>
          <p:cNvPr id="5" name="Footer Placeholder 4">
            <a:extLst>
              <a:ext uri="{FF2B5EF4-FFF2-40B4-BE49-F238E27FC236}">
                <a16:creationId xmlns:a16="http://schemas.microsoft.com/office/drawing/2014/main" id="{51BFB758-5FDF-5A9D-DC8F-24A3BEA893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7767F-C003-3B11-2E27-6C0CE76C0612}"/>
              </a:ext>
            </a:extLst>
          </p:cNvPr>
          <p:cNvSpPr>
            <a:spLocks noGrp="1"/>
          </p:cNvSpPr>
          <p:nvPr>
            <p:ph type="sldNum" sz="quarter" idx="12"/>
          </p:nvPr>
        </p:nvSpPr>
        <p:spPr/>
        <p:txBody>
          <a:bodyPr/>
          <a:lstStyle/>
          <a:p>
            <a:fld id="{29D037B4-208C-4607-9021-4DA57DBE1FBC}" type="slidenum">
              <a:rPr lang="en-US" smtClean="0"/>
              <a:t>‹#›</a:t>
            </a:fld>
            <a:endParaRPr lang="en-US"/>
          </a:p>
        </p:txBody>
      </p:sp>
    </p:spTree>
    <p:extLst>
      <p:ext uri="{BB962C8B-B14F-4D97-AF65-F5344CB8AC3E}">
        <p14:creationId xmlns:p14="http://schemas.microsoft.com/office/powerpoint/2010/main" val="2082135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70C07B-ED02-E706-3391-BC2B73FCF1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DA3BF7-E50B-B831-CF57-08EEF0C0B3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00F05B-FE99-C405-5FC5-768AE232F8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AF89F-7452-4EBA-81A1-23945DDB5BB7}" type="datetimeFigureOut">
              <a:rPr lang="en-US" smtClean="0"/>
              <a:t>10/17/2026</a:t>
            </a:fld>
            <a:endParaRPr lang="en-US"/>
          </a:p>
        </p:txBody>
      </p:sp>
      <p:sp>
        <p:nvSpPr>
          <p:cNvPr id="5" name="Footer Placeholder 4">
            <a:extLst>
              <a:ext uri="{FF2B5EF4-FFF2-40B4-BE49-F238E27FC236}">
                <a16:creationId xmlns:a16="http://schemas.microsoft.com/office/drawing/2014/main" id="{D376E113-A755-0486-B748-074660538B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086165-70F5-77C1-F3EC-5F6ACD9E32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037B4-208C-4607-9021-4DA57DBE1FBC}" type="slidenum">
              <a:rPr lang="en-US" smtClean="0"/>
              <a:t>‹#›</a:t>
            </a:fld>
            <a:endParaRPr lang="en-US"/>
          </a:p>
        </p:txBody>
      </p:sp>
    </p:spTree>
    <p:extLst>
      <p:ext uri="{BB962C8B-B14F-4D97-AF65-F5344CB8AC3E}">
        <p14:creationId xmlns:p14="http://schemas.microsoft.com/office/powerpoint/2010/main" val="3301108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914F6F-124E-3F96-6F22-3172B3D1BE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22416C33-DD00-2BA5-A6B0-3814D87595D0}"/>
              </a:ext>
            </a:extLst>
          </p:cNvPr>
          <p:cNvSpPr/>
          <p:nvPr/>
        </p:nvSpPr>
        <p:spPr>
          <a:xfrm>
            <a:off x="0" y="0"/>
            <a:ext cx="12192000" cy="6858000"/>
          </a:xfrm>
          <a:prstGeom prst="rect">
            <a:avLst/>
          </a:prstGeom>
          <a:solidFill>
            <a:srgbClr val="102822">
              <a:alpha val="82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54BBD252-4DBB-1E66-E63F-D00D33B290B9}"/>
              </a:ext>
            </a:extLst>
          </p:cNvPr>
          <p:cNvSpPr txBox="1"/>
          <p:nvPr/>
        </p:nvSpPr>
        <p:spPr>
          <a:xfrm>
            <a:off x="736600" y="609600"/>
            <a:ext cx="4064000" cy="276999"/>
          </a:xfrm>
          <a:prstGeom prst="rect">
            <a:avLst/>
          </a:prstGeom>
          <a:noFill/>
        </p:spPr>
        <p:txBody>
          <a:bodyPr vert="horz" wrap="square" lIns="0" tIns="0" rIns="0" bIns="0" rtlCol="0">
            <a:noAutofit/>
          </a:bodyPr>
          <a:lstStyle/>
          <a:p>
            <a:r>
              <a:rPr lang="en-US" sz="1000" b="1">
                <a:solidFill>
                  <a:srgbClr val="E2BB66"/>
                </a:solidFill>
                <a:latin typeface="Aptos" panose="020B0004020202020204" pitchFamily="34" charset="0"/>
              </a:rPr>
              <a:t>TRAVELMATE CAPSTONE</a:t>
            </a:r>
          </a:p>
        </p:txBody>
      </p:sp>
      <p:sp>
        <p:nvSpPr>
          <p:cNvPr id="7" name="TextBox 6">
            <a:extLst>
              <a:ext uri="{FF2B5EF4-FFF2-40B4-BE49-F238E27FC236}">
                <a16:creationId xmlns:a16="http://schemas.microsoft.com/office/drawing/2014/main" id="{B524B722-FD84-F709-0B76-98D7DE448AED}"/>
              </a:ext>
            </a:extLst>
          </p:cNvPr>
          <p:cNvSpPr txBox="1"/>
          <p:nvPr/>
        </p:nvSpPr>
        <p:spPr>
          <a:xfrm>
            <a:off x="736600" y="1168400"/>
            <a:ext cx="6604000" cy="276999"/>
          </a:xfrm>
          <a:prstGeom prst="rect">
            <a:avLst/>
          </a:prstGeom>
          <a:noFill/>
        </p:spPr>
        <p:txBody>
          <a:bodyPr vert="horz" wrap="square" lIns="0" tIns="0" rIns="0" bIns="0" rtlCol="0">
            <a:noAutofit/>
          </a:bodyPr>
          <a:lstStyle/>
          <a:p>
            <a:r>
              <a:rPr lang="en-US" sz="3900" b="1">
                <a:solidFill>
                  <a:srgbClr val="FFFFFF"/>
                </a:solidFill>
                <a:latin typeface="Aptos Display" panose="020B0004020202020204" pitchFamily="34" charset="0"/>
              </a:rPr>
              <a:t>Meet the capstone team</a:t>
            </a:r>
          </a:p>
        </p:txBody>
      </p:sp>
      <p:sp>
        <p:nvSpPr>
          <p:cNvPr id="8" name="Rectangle 7">
            <a:extLst>
              <a:ext uri="{FF2B5EF4-FFF2-40B4-BE49-F238E27FC236}">
                <a16:creationId xmlns:a16="http://schemas.microsoft.com/office/drawing/2014/main" id="{E9FFB557-BE00-B2EC-FC3E-17C201B1D45E}"/>
              </a:ext>
            </a:extLst>
          </p:cNvPr>
          <p:cNvSpPr/>
          <p:nvPr/>
        </p:nvSpPr>
        <p:spPr>
          <a:xfrm>
            <a:off x="736600" y="2476500"/>
            <a:ext cx="914400" cy="63500"/>
          </a:xfrm>
          <a:prstGeom prst="rect">
            <a:avLst/>
          </a:prstGeom>
          <a:solidFill>
            <a:srgbClr val="E2BB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FF97FF9-3A06-9210-D0CE-9A5B26F1F674}"/>
              </a:ext>
            </a:extLst>
          </p:cNvPr>
          <p:cNvSpPr txBox="1"/>
          <p:nvPr/>
        </p:nvSpPr>
        <p:spPr>
          <a:xfrm>
            <a:off x="736600" y="2895600"/>
            <a:ext cx="6604000" cy="276999"/>
          </a:xfrm>
          <a:prstGeom prst="rect">
            <a:avLst/>
          </a:prstGeom>
          <a:noFill/>
        </p:spPr>
        <p:txBody>
          <a:bodyPr vert="horz" wrap="square" lIns="0" tIns="0" rIns="0" bIns="0" rtlCol="0">
            <a:noAutofit/>
          </a:bodyPr>
          <a:lstStyle/>
          <a:p>
            <a:r>
              <a:rPr lang="en-US" sz="2500" b="1" dirty="0">
                <a:solidFill>
                  <a:srgbClr val="FFFFFF"/>
                </a:solidFill>
                <a:latin typeface="Aptos" panose="020B0004020202020204" pitchFamily="34" charset="0"/>
              </a:rPr>
              <a:t>CORTES, ROVIC</a:t>
            </a:r>
          </a:p>
        </p:txBody>
      </p:sp>
      <p:sp>
        <p:nvSpPr>
          <p:cNvPr id="10" name="TextBox 9">
            <a:extLst>
              <a:ext uri="{FF2B5EF4-FFF2-40B4-BE49-F238E27FC236}">
                <a16:creationId xmlns:a16="http://schemas.microsoft.com/office/drawing/2014/main" id="{2F1FEC20-F98B-20CA-0ABD-21372A26FA3B}"/>
              </a:ext>
            </a:extLst>
          </p:cNvPr>
          <p:cNvSpPr txBox="1"/>
          <p:nvPr/>
        </p:nvSpPr>
        <p:spPr>
          <a:xfrm>
            <a:off x="736600" y="3657600"/>
            <a:ext cx="8255000" cy="276999"/>
          </a:xfrm>
          <a:prstGeom prst="rect">
            <a:avLst/>
          </a:prstGeom>
          <a:noFill/>
        </p:spPr>
        <p:txBody>
          <a:bodyPr vert="horz" wrap="square" lIns="0" tIns="0" rIns="0" bIns="0" rtlCol="0">
            <a:noAutofit/>
          </a:bodyPr>
          <a:lstStyle/>
          <a:p>
            <a:r>
              <a:rPr lang="en-US" sz="2200" b="1" dirty="0">
                <a:solidFill>
                  <a:srgbClr val="FFFFFF"/>
                </a:solidFill>
                <a:latin typeface="Aptos" panose="020B0004020202020204" pitchFamily="34" charset="0"/>
              </a:rPr>
              <a:t>GULBE, JOHNMARK</a:t>
            </a:r>
          </a:p>
          <a:p>
            <a:endParaRPr lang="en-US" sz="2200" b="1" dirty="0">
              <a:solidFill>
                <a:srgbClr val="FFFFFF"/>
              </a:solidFill>
              <a:latin typeface="Aptos" panose="020B0004020202020204" pitchFamily="34" charset="0"/>
            </a:endParaRPr>
          </a:p>
          <a:p>
            <a:r>
              <a:rPr lang="en-US" sz="2200" b="1" dirty="0">
                <a:solidFill>
                  <a:srgbClr val="FFFFFF"/>
                </a:solidFill>
                <a:latin typeface="Aptos" panose="020B0004020202020204" pitchFamily="34" charset="0"/>
              </a:rPr>
              <a:t>JUMAO-AS JOHNLEE</a:t>
            </a:r>
          </a:p>
        </p:txBody>
      </p:sp>
      <p:sp>
        <p:nvSpPr>
          <p:cNvPr id="11" name="TextBox 10">
            <a:extLst>
              <a:ext uri="{FF2B5EF4-FFF2-40B4-BE49-F238E27FC236}">
                <a16:creationId xmlns:a16="http://schemas.microsoft.com/office/drawing/2014/main" id="{674077F9-5234-F13D-5CCB-1ADEDE9A9A1B}"/>
              </a:ext>
            </a:extLst>
          </p:cNvPr>
          <p:cNvSpPr txBox="1"/>
          <p:nvPr/>
        </p:nvSpPr>
        <p:spPr>
          <a:xfrm>
            <a:off x="736600" y="4584700"/>
            <a:ext cx="5842000" cy="276999"/>
          </a:xfrm>
          <a:prstGeom prst="rect">
            <a:avLst/>
          </a:prstGeom>
          <a:noFill/>
        </p:spPr>
        <p:txBody>
          <a:bodyPr vert="horz" wrap="square" lIns="0" tIns="0" rIns="0" bIns="0" rtlCol="0">
            <a:noAutofit/>
          </a:bodyPr>
          <a:lstStyle/>
          <a:p>
            <a:endParaRPr lang="en-US" sz="1300" dirty="0">
              <a:solidFill>
                <a:srgbClr val="F5E5BB"/>
              </a:solidFill>
              <a:latin typeface="Aptos" panose="020B0004020202020204" pitchFamily="34" charset="0"/>
            </a:endParaRPr>
          </a:p>
        </p:txBody>
      </p:sp>
      <p:sp>
        <p:nvSpPr>
          <p:cNvPr id="12" name="TextBox 11">
            <a:extLst>
              <a:ext uri="{FF2B5EF4-FFF2-40B4-BE49-F238E27FC236}">
                <a16:creationId xmlns:a16="http://schemas.microsoft.com/office/drawing/2014/main" id="{4901F10C-5701-0E39-C45D-C0809F7FBDA3}"/>
              </a:ext>
            </a:extLst>
          </p:cNvPr>
          <p:cNvSpPr txBox="1"/>
          <p:nvPr/>
        </p:nvSpPr>
        <p:spPr>
          <a:xfrm>
            <a:off x="736600" y="4940300"/>
            <a:ext cx="6731000" cy="276999"/>
          </a:xfrm>
          <a:prstGeom prst="rect">
            <a:avLst/>
          </a:prstGeom>
          <a:noFill/>
        </p:spPr>
        <p:txBody>
          <a:bodyPr vert="horz" wrap="square" lIns="0" tIns="0" rIns="0" bIns="0" rtlCol="0">
            <a:noAutofit/>
          </a:bodyPr>
          <a:lstStyle/>
          <a:p>
            <a:endParaRPr lang="en-US" sz="1300" dirty="0">
              <a:solidFill>
                <a:srgbClr val="FFFFFF"/>
              </a:solidFill>
              <a:latin typeface="Aptos" panose="020B0004020202020204" pitchFamily="34" charset="0"/>
            </a:endParaRPr>
          </a:p>
        </p:txBody>
      </p:sp>
      <p:sp>
        <p:nvSpPr>
          <p:cNvPr id="13" name="TextBox 12">
            <a:extLst>
              <a:ext uri="{FF2B5EF4-FFF2-40B4-BE49-F238E27FC236}">
                <a16:creationId xmlns:a16="http://schemas.microsoft.com/office/drawing/2014/main" id="{4127EE1C-2E90-A446-3356-DFD4D24B59B6}"/>
              </a:ext>
            </a:extLst>
          </p:cNvPr>
          <p:cNvSpPr txBox="1"/>
          <p:nvPr/>
        </p:nvSpPr>
        <p:spPr>
          <a:xfrm>
            <a:off x="736600" y="6032500"/>
            <a:ext cx="5461000" cy="276999"/>
          </a:xfrm>
          <a:prstGeom prst="rect">
            <a:avLst/>
          </a:prstGeom>
          <a:noFill/>
        </p:spPr>
        <p:txBody>
          <a:bodyPr vert="horz" wrap="square" lIns="0" tIns="0" rIns="0" bIns="0" rtlCol="0">
            <a:noAutofit/>
          </a:bodyPr>
          <a:lstStyle/>
          <a:p>
            <a:endParaRPr lang="en-US" sz="1100" b="1" dirty="0">
              <a:solidFill>
                <a:srgbClr val="F5E5BB"/>
              </a:solidFill>
              <a:latin typeface="Aptos" panose="020B0004020202020204" pitchFamily="34" charset="0"/>
            </a:endParaRPr>
          </a:p>
        </p:txBody>
      </p:sp>
    </p:spTree>
    <p:extLst>
      <p:ext uri="{BB962C8B-B14F-4D97-AF65-F5344CB8AC3E}">
        <p14:creationId xmlns:p14="http://schemas.microsoft.com/office/powerpoint/2010/main" val="3089605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05EB19-1F80-5DE0-261E-7BFEBE2AA2A6}"/>
              </a:ext>
            </a:extLst>
          </p:cNvPr>
          <p:cNvSpPr txBox="1"/>
          <p:nvPr/>
        </p:nvSpPr>
        <p:spPr>
          <a:xfrm>
            <a:off x="609600" y="482600"/>
            <a:ext cx="3302000" cy="276999"/>
          </a:xfrm>
          <a:prstGeom prst="rect">
            <a:avLst/>
          </a:prstGeom>
          <a:noFill/>
        </p:spPr>
        <p:txBody>
          <a:bodyPr vert="horz" wrap="square" lIns="0" tIns="0" rIns="0" bIns="0" rtlCol="0">
            <a:noAutofit/>
          </a:bodyPr>
          <a:lstStyle/>
          <a:p>
            <a:r>
              <a:rPr lang="en-US" sz="1000" b="1">
                <a:solidFill>
                  <a:srgbClr val="B14839"/>
                </a:solidFill>
                <a:latin typeface="Aptos" panose="020B0004020202020204" pitchFamily="34" charset="0"/>
              </a:rPr>
              <a:t>CAPSTONE TITLE</a:t>
            </a:r>
          </a:p>
        </p:txBody>
      </p:sp>
      <p:sp>
        <p:nvSpPr>
          <p:cNvPr id="3" name="TextBox 2">
            <a:extLst>
              <a:ext uri="{FF2B5EF4-FFF2-40B4-BE49-F238E27FC236}">
                <a16:creationId xmlns:a16="http://schemas.microsoft.com/office/drawing/2014/main" id="{A3A30A5D-F140-5D00-571A-7E76119D48DE}"/>
              </a:ext>
            </a:extLst>
          </p:cNvPr>
          <p:cNvSpPr txBox="1"/>
          <p:nvPr/>
        </p:nvSpPr>
        <p:spPr>
          <a:xfrm>
            <a:off x="609600" y="889000"/>
            <a:ext cx="4953000" cy="276999"/>
          </a:xfrm>
          <a:prstGeom prst="rect">
            <a:avLst/>
          </a:prstGeom>
          <a:noFill/>
        </p:spPr>
        <p:txBody>
          <a:bodyPr vert="horz" wrap="square" lIns="0" tIns="0" rIns="0" bIns="0" rtlCol="0">
            <a:noAutofit/>
          </a:bodyPr>
          <a:lstStyle/>
          <a:p>
            <a:r>
              <a:rPr lang="en-US" sz="4000" b="1">
                <a:solidFill>
                  <a:srgbClr val="162A24"/>
                </a:solidFill>
                <a:latin typeface="Aptos Display" panose="020B0004020202020204" pitchFamily="34" charset="0"/>
              </a:rPr>
              <a:t>TravelMate</a:t>
            </a:r>
          </a:p>
        </p:txBody>
      </p:sp>
      <p:sp>
        <p:nvSpPr>
          <p:cNvPr id="4" name="TextBox 3">
            <a:extLst>
              <a:ext uri="{FF2B5EF4-FFF2-40B4-BE49-F238E27FC236}">
                <a16:creationId xmlns:a16="http://schemas.microsoft.com/office/drawing/2014/main" id="{13EF9F8E-358B-D16E-9CE3-706E826ACA3B}"/>
              </a:ext>
            </a:extLst>
          </p:cNvPr>
          <p:cNvSpPr txBox="1"/>
          <p:nvPr/>
        </p:nvSpPr>
        <p:spPr>
          <a:xfrm>
            <a:off x="609600" y="1651000"/>
            <a:ext cx="4953000" cy="276999"/>
          </a:xfrm>
          <a:prstGeom prst="rect">
            <a:avLst/>
          </a:prstGeom>
          <a:noFill/>
        </p:spPr>
        <p:txBody>
          <a:bodyPr vert="horz" wrap="square" lIns="0" tIns="0" rIns="0" bIns="0" rtlCol="0">
            <a:noAutofit/>
          </a:bodyPr>
          <a:lstStyle/>
          <a:p>
            <a:r>
              <a:rPr lang="en-US" sz="2500" b="1" dirty="0">
                <a:solidFill>
                  <a:srgbClr val="162A24"/>
                </a:solidFill>
                <a:latin typeface="Aptos" panose="020B0004020202020204" pitchFamily="34" charset="0"/>
              </a:rPr>
              <a:t>AI-Powered Travel Planning and Itinerary Management System</a:t>
            </a:r>
          </a:p>
        </p:txBody>
      </p:sp>
      <p:sp>
        <p:nvSpPr>
          <p:cNvPr id="5" name="Rectangle 4">
            <a:extLst>
              <a:ext uri="{FF2B5EF4-FFF2-40B4-BE49-F238E27FC236}">
                <a16:creationId xmlns:a16="http://schemas.microsoft.com/office/drawing/2014/main" id="{C0BADCBC-6C24-6324-D079-17D6F825BF6D}"/>
              </a:ext>
            </a:extLst>
          </p:cNvPr>
          <p:cNvSpPr/>
          <p:nvPr/>
        </p:nvSpPr>
        <p:spPr>
          <a:xfrm>
            <a:off x="609600" y="3073400"/>
            <a:ext cx="863600" cy="50800"/>
          </a:xfrm>
          <a:prstGeom prst="rect">
            <a:avLst/>
          </a:prstGeom>
          <a:solidFill>
            <a:srgbClr val="E2BB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901CFEF-6E9F-BD48-BAF1-B139A36479A8}"/>
              </a:ext>
            </a:extLst>
          </p:cNvPr>
          <p:cNvSpPr txBox="1"/>
          <p:nvPr/>
        </p:nvSpPr>
        <p:spPr>
          <a:xfrm>
            <a:off x="609600" y="3441700"/>
            <a:ext cx="4889500" cy="276999"/>
          </a:xfrm>
          <a:prstGeom prst="rect">
            <a:avLst/>
          </a:prstGeom>
          <a:noFill/>
        </p:spPr>
        <p:txBody>
          <a:bodyPr vert="horz" wrap="square" lIns="0" tIns="0" rIns="0" bIns="0" rtlCol="0">
            <a:noAutofit/>
          </a:bodyPr>
          <a:lstStyle/>
          <a:p>
            <a:r>
              <a:rPr lang="en-US" dirty="0" err="1">
                <a:solidFill>
                  <a:srgbClr val="52675F"/>
                </a:solidFill>
                <a:latin typeface="Aptos" panose="020B0004020202020204" pitchFamily="34" charset="0"/>
              </a:rPr>
              <a:t>TravelMate</a:t>
            </a:r>
            <a:r>
              <a:rPr lang="en-US" dirty="0">
                <a:solidFill>
                  <a:srgbClr val="52675F"/>
                </a:solidFill>
                <a:latin typeface="Aptos" panose="020B0004020202020204" pitchFamily="34" charset="0"/>
              </a:rPr>
              <a:t> turns a destination, dates, travelers, budget, and preferences into a structured itinerary.</a:t>
            </a:r>
          </a:p>
        </p:txBody>
      </p:sp>
      <p:sp>
        <p:nvSpPr>
          <p:cNvPr id="7" name="TextBox 6">
            <a:extLst>
              <a:ext uri="{FF2B5EF4-FFF2-40B4-BE49-F238E27FC236}">
                <a16:creationId xmlns:a16="http://schemas.microsoft.com/office/drawing/2014/main" id="{38E576CA-732F-8CD7-1543-2FF859FD10DF}"/>
              </a:ext>
            </a:extLst>
          </p:cNvPr>
          <p:cNvSpPr txBox="1"/>
          <p:nvPr/>
        </p:nvSpPr>
        <p:spPr>
          <a:xfrm>
            <a:off x="609600" y="4648200"/>
            <a:ext cx="4889500" cy="276999"/>
          </a:xfrm>
          <a:prstGeom prst="rect">
            <a:avLst/>
          </a:prstGeom>
          <a:noFill/>
        </p:spPr>
        <p:txBody>
          <a:bodyPr vert="horz" wrap="square" lIns="0" tIns="0" rIns="0" bIns="0" rtlCol="0">
            <a:noAutofit/>
          </a:bodyPr>
          <a:lstStyle/>
          <a:p>
            <a:r>
              <a:rPr lang="en-US" sz="1700">
                <a:solidFill>
                  <a:srgbClr val="52675F"/>
                </a:solidFill>
                <a:latin typeface="Aptos" panose="020B0004020202020204" pitchFamily="34" charset="0"/>
              </a:rPr>
              <a:t>The system keeps the daily plan, cost estimates, weather context, saved trips, maps, and visited-place records in one workflow.</a:t>
            </a:r>
          </a:p>
        </p:txBody>
      </p:sp>
      <p:sp>
        <p:nvSpPr>
          <p:cNvPr id="8" name="Rectangle 7">
            <a:extLst>
              <a:ext uri="{FF2B5EF4-FFF2-40B4-BE49-F238E27FC236}">
                <a16:creationId xmlns:a16="http://schemas.microsoft.com/office/drawing/2014/main" id="{9041B730-CE8B-5714-05F0-32E8DAD24DC5}"/>
              </a:ext>
            </a:extLst>
          </p:cNvPr>
          <p:cNvSpPr/>
          <p:nvPr/>
        </p:nvSpPr>
        <p:spPr>
          <a:xfrm>
            <a:off x="5994400" y="546100"/>
            <a:ext cx="5588000" cy="5334000"/>
          </a:xfrm>
          <a:prstGeom prst="rect">
            <a:avLst/>
          </a:prstGeom>
          <a:solidFill>
            <a:srgbClr val="FFFFFF"/>
          </a:solidFill>
          <a:ln w="12700">
            <a:solidFill>
              <a:srgbClr val="DCE7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CCFC3E4-E9D7-38F8-2063-0CD5452B1C93}"/>
              </a:ext>
            </a:extLst>
          </p:cNvPr>
          <p:cNvSpPr/>
          <p:nvPr/>
        </p:nvSpPr>
        <p:spPr>
          <a:xfrm>
            <a:off x="6172200" y="723900"/>
            <a:ext cx="5232400" cy="4978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4727427-A7BC-1D33-E636-5E179B7B40C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72200" y="882139"/>
            <a:ext cx="5232400" cy="4661923"/>
          </a:xfrm>
          <a:prstGeom prst="rect">
            <a:avLst/>
          </a:prstGeom>
        </p:spPr>
      </p:pic>
      <p:sp>
        <p:nvSpPr>
          <p:cNvPr id="12" name="TextBox 11">
            <a:extLst>
              <a:ext uri="{FF2B5EF4-FFF2-40B4-BE49-F238E27FC236}">
                <a16:creationId xmlns:a16="http://schemas.microsoft.com/office/drawing/2014/main" id="{0EA055B0-88B1-D9BB-7D21-949F8199EE41}"/>
              </a:ext>
            </a:extLst>
          </p:cNvPr>
          <p:cNvSpPr txBox="1"/>
          <p:nvPr/>
        </p:nvSpPr>
        <p:spPr>
          <a:xfrm>
            <a:off x="609600" y="6464300"/>
            <a:ext cx="2540000" cy="276999"/>
          </a:xfrm>
          <a:prstGeom prst="rect">
            <a:avLst/>
          </a:prstGeom>
          <a:noFill/>
        </p:spPr>
        <p:txBody>
          <a:bodyPr vert="horz" wrap="square" lIns="0" tIns="0" rIns="0" bIns="0" rtlCol="0">
            <a:noAutofit/>
          </a:bodyPr>
          <a:lstStyle/>
          <a:p>
            <a:r>
              <a:rPr lang="en-US" sz="900" b="1">
                <a:solidFill>
                  <a:srgbClr val="52675F"/>
                </a:solidFill>
                <a:latin typeface="Aptos" panose="020B0004020202020204" pitchFamily="34" charset="0"/>
              </a:rPr>
              <a:t>TravelMate Capstone</a:t>
            </a:r>
          </a:p>
        </p:txBody>
      </p:sp>
      <p:sp>
        <p:nvSpPr>
          <p:cNvPr id="13" name="TextBox 12">
            <a:extLst>
              <a:ext uri="{FF2B5EF4-FFF2-40B4-BE49-F238E27FC236}">
                <a16:creationId xmlns:a16="http://schemas.microsoft.com/office/drawing/2014/main" id="{8E12B72E-2F6F-CAE0-91C8-F1D3A359BDBD}"/>
              </a:ext>
            </a:extLst>
          </p:cNvPr>
          <p:cNvSpPr txBox="1"/>
          <p:nvPr/>
        </p:nvSpPr>
        <p:spPr>
          <a:xfrm>
            <a:off x="11099800" y="6438900"/>
            <a:ext cx="482600" cy="276999"/>
          </a:xfrm>
          <a:prstGeom prst="rect">
            <a:avLst/>
          </a:prstGeom>
          <a:noFill/>
        </p:spPr>
        <p:txBody>
          <a:bodyPr vert="horz" wrap="square" lIns="0" tIns="0" rIns="0" bIns="0" rtlCol="0">
            <a:noAutofit/>
          </a:bodyPr>
          <a:lstStyle/>
          <a:p>
            <a:pPr algn="r"/>
            <a:r>
              <a:rPr lang="en-US" sz="1000" b="1">
                <a:solidFill>
                  <a:srgbClr val="52675F"/>
                </a:solidFill>
                <a:latin typeface="Aptos" panose="020B0004020202020204" pitchFamily="34" charset="0"/>
              </a:rPr>
              <a:t>02</a:t>
            </a:r>
          </a:p>
        </p:txBody>
      </p:sp>
    </p:spTree>
    <p:extLst>
      <p:ext uri="{BB962C8B-B14F-4D97-AF65-F5344CB8AC3E}">
        <p14:creationId xmlns:p14="http://schemas.microsoft.com/office/powerpoint/2010/main" val="2268536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EA779A-6C84-6D7F-E03F-8B1CE7DC5E04}"/>
              </a:ext>
            </a:extLst>
          </p:cNvPr>
          <p:cNvSpPr txBox="1"/>
          <p:nvPr/>
        </p:nvSpPr>
        <p:spPr>
          <a:xfrm>
            <a:off x="609600" y="482600"/>
            <a:ext cx="3810000" cy="276999"/>
          </a:xfrm>
          <a:prstGeom prst="rect">
            <a:avLst/>
          </a:prstGeom>
          <a:noFill/>
        </p:spPr>
        <p:txBody>
          <a:bodyPr vert="horz" wrap="square" lIns="0" tIns="0" rIns="0" bIns="0" rtlCol="0">
            <a:noAutofit/>
          </a:bodyPr>
          <a:lstStyle/>
          <a:p>
            <a:r>
              <a:rPr lang="en-US" sz="1000" b="1">
                <a:solidFill>
                  <a:srgbClr val="B14839"/>
                </a:solidFill>
                <a:latin typeface="Aptos" panose="020B0004020202020204" pitchFamily="34" charset="0"/>
              </a:rPr>
              <a:t>CLIENT AND STAKEHOLDERS</a:t>
            </a:r>
          </a:p>
        </p:txBody>
      </p:sp>
      <p:sp>
        <p:nvSpPr>
          <p:cNvPr id="3" name="TextBox 2">
            <a:extLst>
              <a:ext uri="{FF2B5EF4-FFF2-40B4-BE49-F238E27FC236}">
                <a16:creationId xmlns:a16="http://schemas.microsoft.com/office/drawing/2014/main" id="{0FA2AF21-71A6-E83F-41F3-AE91901B7977}"/>
              </a:ext>
            </a:extLst>
          </p:cNvPr>
          <p:cNvSpPr txBox="1"/>
          <p:nvPr/>
        </p:nvSpPr>
        <p:spPr>
          <a:xfrm>
            <a:off x="609600" y="914400"/>
            <a:ext cx="7620000" cy="276999"/>
          </a:xfrm>
          <a:prstGeom prst="rect">
            <a:avLst/>
          </a:prstGeom>
          <a:noFill/>
        </p:spPr>
        <p:txBody>
          <a:bodyPr vert="horz" wrap="square" lIns="0" tIns="0" rIns="0" bIns="0" rtlCol="0">
            <a:noAutofit/>
          </a:bodyPr>
          <a:lstStyle/>
          <a:p>
            <a:r>
              <a:rPr lang="en-US" sz="3400" b="1">
                <a:solidFill>
                  <a:srgbClr val="162A24"/>
                </a:solidFill>
                <a:latin typeface="Aptos Display" panose="020B0004020202020204" pitchFamily="34" charset="0"/>
              </a:rPr>
              <a:t>Project ownership and users</a:t>
            </a:r>
          </a:p>
        </p:txBody>
      </p:sp>
      <p:sp>
        <p:nvSpPr>
          <p:cNvPr id="4" name="TextBox 3">
            <a:extLst>
              <a:ext uri="{FF2B5EF4-FFF2-40B4-BE49-F238E27FC236}">
                <a16:creationId xmlns:a16="http://schemas.microsoft.com/office/drawing/2014/main" id="{3821F863-5C29-C6BC-D9B3-2D34789CCD22}"/>
              </a:ext>
            </a:extLst>
          </p:cNvPr>
          <p:cNvSpPr txBox="1"/>
          <p:nvPr/>
        </p:nvSpPr>
        <p:spPr>
          <a:xfrm>
            <a:off x="609600" y="1816100"/>
            <a:ext cx="5080000" cy="276999"/>
          </a:xfrm>
          <a:prstGeom prst="rect">
            <a:avLst/>
          </a:prstGeom>
          <a:noFill/>
        </p:spPr>
        <p:txBody>
          <a:bodyPr vert="horz" wrap="square" lIns="0" tIns="0" rIns="0" bIns="0" rtlCol="0">
            <a:noAutofit/>
          </a:bodyPr>
          <a:lstStyle/>
          <a:p>
            <a:r>
              <a:rPr lang="en-US" sz="2000" b="1" dirty="0">
                <a:solidFill>
                  <a:srgbClr val="B14839"/>
                </a:solidFill>
                <a:latin typeface="Aptos" panose="020B0004020202020204" pitchFamily="34" charset="0"/>
              </a:rPr>
              <a:t>No external client is identified in the project records.</a:t>
            </a:r>
          </a:p>
        </p:txBody>
      </p:sp>
      <p:sp>
        <p:nvSpPr>
          <p:cNvPr id="5" name="TextBox 4">
            <a:extLst>
              <a:ext uri="{FF2B5EF4-FFF2-40B4-BE49-F238E27FC236}">
                <a16:creationId xmlns:a16="http://schemas.microsoft.com/office/drawing/2014/main" id="{39C97A15-9550-8032-7622-0988D1C2A153}"/>
              </a:ext>
            </a:extLst>
          </p:cNvPr>
          <p:cNvSpPr txBox="1"/>
          <p:nvPr/>
        </p:nvSpPr>
        <p:spPr>
          <a:xfrm>
            <a:off x="609600" y="2895600"/>
            <a:ext cx="3937000" cy="276999"/>
          </a:xfrm>
          <a:prstGeom prst="rect">
            <a:avLst/>
          </a:prstGeom>
          <a:noFill/>
        </p:spPr>
        <p:txBody>
          <a:bodyPr vert="horz" wrap="square" lIns="0" tIns="0" rIns="0" bIns="0" rtlCol="0">
            <a:noAutofit/>
          </a:bodyPr>
          <a:lstStyle/>
          <a:p>
            <a:r>
              <a:rPr lang="en-US" sz="1500" b="1" dirty="0">
                <a:solidFill>
                  <a:srgbClr val="1A3D33"/>
                </a:solidFill>
                <a:latin typeface="Aptos" panose="020B0004020202020204" pitchFamily="34" charset="0"/>
              </a:rPr>
              <a:t>Academic stakeholders</a:t>
            </a:r>
          </a:p>
        </p:txBody>
      </p:sp>
      <p:sp>
        <p:nvSpPr>
          <p:cNvPr id="6" name="TextBox 5">
            <a:extLst>
              <a:ext uri="{FF2B5EF4-FFF2-40B4-BE49-F238E27FC236}">
                <a16:creationId xmlns:a16="http://schemas.microsoft.com/office/drawing/2014/main" id="{4CBB9A5C-7F1E-6686-A41D-09B6E9C02D4B}"/>
              </a:ext>
            </a:extLst>
          </p:cNvPr>
          <p:cNvSpPr txBox="1"/>
          <p:nvPr/>
        </p:nvSpPr>
        <p:spPr>
          <a:xfrm>
            <a:off x="609600" y="3302000"/>
            <a:ext cx="4508500" cy="276999"/>
          </a:xfrm>
          <a:prstGeom prst="rect">
            <a:avLst/>
          </a:prstGeom>
          <a:noFill/>
        </p:spPr>
        <p:txBody>
          <a:bodyPr vert="horz" wrap="square" lIns="0" tIns="0" rIns="0" bIns="0" rtlCol="0">
            <a:noAutofit/>
          </a:bodyPr>
          <a:lstStyle/>
          <a:p>
            <a:r>
              <a:rPr lang="en-US" sz="1600">
                <a:solidFill>
                  <a:srgbClr val="52675F"/>
                </a:solidFill>
                <a:latin typeface="Aptos" panose="020B0004020202020204" pitchFamily="34" charset="0"/>
              </a:rPr>
              <a:t>Capstone team, adviser, panel, and institution. Final names and approval details remain for confirmation.</a:t>
            </a:r>
          </a:p>
        </p:txBody>
      </p:sp>
      <p:sp>
        <p:nvSpPr>
          <p:cNvPr id="7" name="TextBox 6">
            <a:extLst>
              <a:ext uri="{FF2B5EF4-FFF2-40B4-BE49-F238E27FC236}">
                <a16:creationId xmlns:a16="http://schemas.microsoft.com/office/drawing/2014/main" id="{64FCA49C-8B7E-6843-372C-40C12391F611}"/>
              </a:ext>
            </a:extLst>
          </p:cNvPr>
          <p:cNvSpPr txBox="1"/>
          <p:nvPr/>
        </p:nvSpPr>
        <p:spPr>
          <a:xfrm>
            <a:off x="609600" y="4445000"/>
            <a:ext cx="3937000" cy="276999"/>
          </a:xfrm>
          <a:prstGeom prst="rect">
            <a:avLst/>
          </a:prstGeom>
          <a:noFill/>
        </p:spPr>
        <p:txBody>
          <a:bodyPr vert="horz" wrap="square" lIns="0" tIns="0" rIns="0" bIns="0" rtlCol="0">
            <a:noAutofit/>
          </a:bodyPr>
          <a:lstStyle/>
          <a:p>
            <a:r>
              <a:rPr lang="en-US" sz="1500" b="1">
                <a:solidFill>
                  <a:srgbClr val="1A3D33"/>
                </a:solidFill>
                <a:latin typeface="Aptos" panose="020B0004020202020204" pitchFamily="34" charset="0"/>
              </a:rPr>
              <a:t>Primary users</a:t>
            </a:r>
          </a:p>
        </p:txBody>
      </p:sp>
      <p:sp>
        <p:nvSpPr>
          <p:cNvPr id="8" name="TextBox 7">
            <a:extLst>
              <a:ext uri="{FF2B5EF4-FFF2-40B4-BE49-F238E27FC236}">
                <a16:creationId xmlns:a16="http://schemas.microsoft.com/office/drawing/2014/main" id="{660FBCF6-EC11-9631-62D0-A708D2A5F872}"/>
              </a:ext>
            </a:extLst>
          </p:cNvPr>
          <p:cNvSpPr txBox="1"/>
          <p:nvPr/>
        </p:nvSpPr>
        <p:spPr>
          <a:xfrm>
            <a:off x="609600" y="4851400"/>
            <a:ext cx="4508500" cy="276999"/>
          </a:xfrm>
          <a:prstGeom prst="rect">
            <a:avLst/>
          </a:prstGeom>
          <a:noFill/>
        </p:spPr>
        <p:txBody>
          <a:bodyPr vert="horz" wrap="square" lIns="0" tIns="0" rIns="0" bIns="0" rtlCol="0">
            <a:noAutofit/>
          </a:bodyPr>
          <a:lstStyle/>
          <a:p>
            <a:r>
              <a:rPr lang="en-US" sz="1600">
                <a:solidFill>
                  <a:srgbClr val="52675F"/>
                </a:solidFill>
                <a:latin typeface="Aptos" panose="020B0004020202020204" pitchFamily="34" charset="0"/>
              </a:rPr>
              <a:t>Travelers create and manage plans. Administrators manage accounts, feedback, reports, and moderation.</a:t>
            </a:r>
          </a:p>
        </p:txBody>
      </p:sp>
      <p:sp>
        <p:nvSpPr>
          <p:cNvPr id="9" name="Rectangle 8">
            <a:extLst>
              <a:ext uri="{FF2B5EF4-FFF2-40B4-BE49-F238E27FC236}">
                <a16:creationId xmlns:a16="http://schemas.microsoft.com/office/drawing/2014/main" id="{6094A661-0BBF-F4C0-987D-3B9986B4DE92}"/>
              </a:ext>
            </a:extLst>
          </p:cNvPr>
          <p:cNvSpPr/>
          <p:nvPr/>
        </p:nvSpPr>
        <p:spPr>
          <a:xfrm>
            <a:off x="5689600" y="1816100"/>
            <a:ext cx="5892800" cy="4064000"/>
          </a:xfrm>
          <a:prstGeom prst="rect">
            <a:avLst/>
          </a:prstGeom>
          <a:solidFill>
            <a:srgbClr val="DCE7D8"/>
          </a:solidFill>
          <a:ln w="12700">
            <a:solidFill>
              <a:srgbClr val="DCE7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EC1A9E-512B-FB4C-1E9E-1977083B3BB6}"/>
              </a:ext>
            </a:extLst>
          </p:cNvPr>
          <p:cNvSpPr/>
          <p:nvPr/>
        </p:nvSpPr>
        <p:spPr>
          <a:xfrm>
            <a:off x="5842000" y="1968500"/>
            <a:ext cx="5588000" cy="3759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0ECB39D-975F-534C-5B18-E91464D3027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81045" y="1968500"/>
            <a:ext cx="4309911" cy="3759200"/>
          </a:xfrm>
          <a:prstGeom prst="rect">
            <a:avLst/>
          </a:prstGeom>
        </p:spPr>
      </p:pic>
      <p:sp>
        <p:nvSpPr>
          <p:cNvPr id="13" name="TextBox 12">
            <a:extLst>
              <a:ext uri="{FF2B5EF4-FFF2-40B4-BE49-F238E27FC236}">
                <a16:creationId xmlns:a16="http://schemas.microsoft.com/office/drawing/2014/main" id="{3D8878D7-A640-5E7A-D1C4-AFAC52763BC7}"/>
              </a:ext>
            </a:extLst>
          </p:cNvPr>
          <p:cNvSpPr txBox="1"/>
          <p:nvPr/>
        </p:nvSpPr>
        <p:spPr>
          <a:xfrm>
            <a:off x="609600" y="6464300"/>
            <a:ext cx="2540000" cy="276999"/>
          </a:xfrm>
          <a:prstGeom prst="rect">
            <a:avLst/>
          </a:prstGeom>
          <a:noFill/>
        </p:spPr>
        <p:txBody>
          <a:bodyPr vert="horz" wrap="square" lIns="0" tIns="0" rIns="0" bIns="0" rtlCol="0">
            <a:noAutofit/>
          </a:bodyPr>
          <a:lstStyle/>
          <a:p>
            <a:r>
              <a:rPr lang="en-US" sz="900" b="1">
                <a:solidFill>
                  <a:srgbClr val="52675F"/>
                </a:solidFill>
                <a:latin typeface="Aptos" panose="020B0004020202020204" pitchFamily="34" charset="0"/>
              </a:rPr>
              <a:t>TravelMate Capstone</a:t>
            </a:r>
          </a:p>
        </p:txBody>
      </p:sp>
      <p:sp>
        <p:nvSpPr>
          <p:cNvPr id="14" name="TextBox 13">
            <a:extLst>
              <a:ext uri="{FF2B5EF4-FFF2-40B4-BE49-F238E27FC236}">
                <a16:creationId xmlns:a16="http://schemas.microsoft.com/office/drawing/2014/main" id="{61A57CBE-4C25-9453-847F-6E2A7CAE42C4}"/>
              </a:ext>
            </a:extLst>
          </p:cNvPr>
          <p:cNvSpPr txBox="1"/>
          <p:nvPr/>
        </p:nvSpPr>
        <p:spPr>
          <a:xfrm>
            <a:off x="11099800" y="6438900"/>
            <a:ext cx="482600" cy="276999"/>
          </a:xfrm>
          <a:prstGeom prst="rect">
            <a:avLst/>
          </a:prstGeom>
          <a:noFill/>
        </p:spPr>
        <p:txBody>
          <a:bodyPr vert="horz" wrap="square" lIns="0" tIns="0" rIns="0" bIns="0" rtlCol="0">
            <a:noAutofit/>
          </a:bodyPr>
          <a:lstStyle/>
          <a:p>
            <a:pPr algn="r"/>
            <a:r>
              <a:rPr lang="en-US" sz="1000" b="1">
                <a:solidFill>
                  <a:srgbClr val="52675F"/>
                </a:solidFill>
                <a:latin typeface="Aptos" panose="020B0004020202020204" pitchFamily="34" charset="0"/>
              </a:rPr>
              <a:t>03</a:t>
            </a:r>
          </a:p>
        </p:txBody>
      </p:sp>
    </p:spTree>
    <p:extLst>
      <p:ext uri="{BB962C8B-B14F-4D97-AF65-F5344CB8AC3E}">
        <p14:creationId xmlns:p14="http://schemas.microsoft.com/office/powerpoint/2010/main" val="1169914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04BF-41A0-49F2-6C0A-36CFB0F734EE}"/>
              </a:ext>
            </a:extLst>
          </p:cNvPr>
          <p:cNvSpPr txBox="1"/>
          <p:nvPr/>
        </p:nvSpPr>
        <p:spPr>
          <a:xfrm>
            <a:off x="609600" y="457200"/>
            <a:ext cx="3810000" cy="276999"/>
          </a:xfrm>
          <a:prstGeom prst="rect">
            <a:avLst/>
          </a:prstGeom>
          <a:noFill/>
        </p:spPr>
        <p:txBody>
          <a:bodyPr vert="horz" wrap="square" lIns="0" tIns="0" rIns="0" bIns="0" rtlCol="0">
            <a:noAutofit/>
          </a:bodyPr>
          <a:lstStyle/>
          <a:p>
            <a:r>
              <a:rPr lang="en-US" sz="1000" b="1">
                <a:solidFill>
                  <a:srgbClr val="B14839"/>
                </a:solidFill>
                <a:latin typeface="Aptos" panose="020B0004020202020204" pitchFamily="34" charset="0"/>
              </a:rPr>
              <a:t>PROBLEM AND SOLUTION</a:t>
            </a:r>
          </a:p>
        </p:txBody>
      </p:sp>
      <p:sp>
        <p:nvSpPr>
          <p:cNvPr id="3" name="TextBox 2">
            <a:extLst>
              <a:ext uri="{FF2B5EF4-FFF2-40B4-BE49-F238E27FC236}">
                <a16:creationId xmlns:a16="http://schemas.microsoft.com/office/drawing/2014/main" id="{1196BCFB-9BCB-6286-41BA-46FAEA2B306C}"/>
              </a:ext>
            </a:extLst>
          </p:cNvPr>
          <p:cNvSpPr txBox="1"/>
          <p:nvPr/>
        </p:nvSpPr>
        <p:spPr>
          <a:xfrm>
            <a:off x="609600" y="863600"/>
            <a:ext cx="8763000" cy="276999"/>
          </a:xfrm>
          <a:prstGeom prst="rect">
            <a:avLst/>
          </a:prstGeom>
          <a:noFill/>
        </p:spPr>
        <p:txBody>
          <a:bodyPr vert="horz" wrap="square" lIns="0" tIns="0" rIns="0" bIns="0" rtlCol="0">
            <a:noAutofit/>
          </a:bodyPr>
          <a:lstStyle/>
          <a:p>
            <a:r>
              <a:rPr lang="en-US" sz="3300" b="1">
                <a:solidFill>
                  <a:srgbClr val="162A24"/>
                </a:solidFill>
                <a:latin typeface="Aptos Display" panose="020B0004020202020204" pitchFamily="34" charset="0"/>
              </a:rPr>
              <a:t>Travel planning without a connected system</a:t>
            </a:r>
          </a:p>
        </p:txBody>
      </p:sp>
      <p:sp>
        <p:nvSpPr>
          <p:cNvPr id="4" name="TextBox 3">
            <a:extLst>
              <a:ext uri="{FF2B5EF4-FFF2-40B4-BE49-F238E27FC236}">
                <a16:creationId xmlns:a16="http://schemas.microsoft.com/office/drawing/2014/main" id="{915F86D6-C18A-EC04-08D9-7A28FC577A65}"/>
              </a:ext>
            </a:extLst>
          </p:cNvPr>
          <p:cNvSpPr txBox="1"/>
          <p:nvPr/>
        </p:nvSpPr>
        <p:spPr>
          <a:xfrm>
            <a:off x="609600" y="1841500"/>
            <a:ext cx="3810000" cy="276999"/>
          </a:xfrm>
          <a:prstGeom prst="rect">
            <a:avLst/>
          </a:prstGeom>
          <a:noFill/>
        </p:spPr>
        <p:txBody>
          <a:bodyPr vert="horz" wrap="square" lIns="0" tIns="0" rIns="0" bIns="0" rtlCol="0">
            <a:noAutofit/>
          </a:bodyPr>
          <a:lstStyle/>
          <a:p>
            <a:r>
              <a:rPr lang="en-US" sz="1200" b="1">
                <a:solidFill>
                  <a:srgbClr val="B14839"/>
                </a:solidFill>
                <a:latin typeface="Aptos" panose="020B0004020202020204" pitchFamily="34" charset="0"/>
              </a:rPr>
              <a:t>MANUAL PROCESS</a:t>
            </a:r>
          </a:p>
        </p:txBody>
      </p:sp>
      <p:sp>
        <p:nvSpPr>
          <p:cNvPr id="5" name="TextBox 4">
            <a:extLst>
              <a:ext uri="{FF2B5EF4-FFF2-40B4-BE49-F238E27FC236}">
                <a16:creationId xmlns:a16="http://schemas.microsoft.com/office/drawing/2014/main" id="{5832212D-01EF-82A5-B5D3-40D1E1A9252C}"/>
              </a:ext>
            </a:extLst>
          </p:cNvPr>
          <p:cNvSpPr txBox="1"/>
          <p:nvPr/>
        </p:nvSpPr>
        <p:spPr>
          <a:xfrm>
            <a:off x="609600" y="2260600"/>
            <a:ext cx="4953000" cy="276999"/>
          </a:xfrm>
          <a:prstGeom prst="rect">
            <a:avLst/>
          </a:prstGeom>
          <a:noFill/>
        </p:spPr>
        <p:txBody>
          <a:bodyPr vert="horz" wrap="square" lIns="0" tIns="0" rIns="0" bIns="0" rtlCol="0">
            <a:noAutofit/>
          </a:bodyPr>
          <a:lstStyle/>
          <a:p>
            <a:r>
              <a:rPr lang="en-US" sz="1700">
                <a:solidFill>
                  <a:srgbClr val="52675F"/>
                </a:solidFill>
                <a:latin typeface="Aptos" panose="020B0004020202020204" pitchFamily="34" charset="0"/>
              </a:rPr>
              <a:t>1  Search different sites for destinations, weather, places, routes, and accommodation.
2  Build the daily schedule and estimate the budget by hand.
3  Copy details into notes or spreadsheets, then repeat the work when plans change.</a:t>
            </a:r>
          </a:p>
        </p:txBody>
      </p:sp>
      <p:sp>
        <p:nvSpPr>
          <p:cNvPr id="6" name="TextBox 5">
            <a:extLst>
              <a:ext uri="{FF2B5EF4-FFF2-40B4-BE49-F238E27FC236}">
                <a16:creationId xmlns:a16="http://schemas.microsoft.com/office/drawing/2014/main" id="{A74ED122-9CA8-0420-86E9-69AF6EADA6C7}"/>
              </a:ext>
            </a:extLst>
          </p:cNvPr>
          <p:cNvSpPr txBox="1"/>
          <p:nvPr/>
        </p:nvSpPr>
        <p:spPr>
          <a:xfrm>
            <a:off x="6248400" y="1841500"/>
            <a:ext cx="3810000" cy="276999"/>
          </a:xfrm>
          <a:prstGeom prst="rect">
            <a:avLst/>
          </a:prstGeom>
          <a:noFill/>
        </p:spPr>
        <p:txBody>
          <a:bodyPr vert="horz" wrap="square" lIns="0" tIns="0" rIns="0" bIns="0" rtlCol="0">
            <a:noAutofit/>
          </a:bodyPr>
          <a:lstStyle/>
          <a:p>
            <a:r>
              <a:rPr lang="en-US" sz="1200" b="1">
                <a:solidFill>
                  <a:srgbClr val="1A3D33"/>
                </a:solidFill>
                <a:latin typeface="Aptos" panose="020B0004020202020204" pitchFamily="34" charset="0"/>
              </a:rPr>
              <a:t>TRAVELMATE PROCESS</a:t>
            </a:r>
          </a:p>
        </p:txBody>
      </p:sp>
      <p:sp>
        <p:nvSpPr>
          <p:cNvPr id="7" name="TextBox 6">
            <a:extLst>
              <a:ext uri="{FF2B5EF4-FFF2-40B4-BE49-F238E27FC236}">
                <a16:creationId xmlns:a16="http://schemas.microsoft.com/office/drawing/2014/main" id="{1B2E95E4-06D3-6FDC-6E0F-CD0548778B66}"/>
              </a:ext>
            </a:extLst>
          </p:cNvPr>
          <p:cNvSpPr txBox="1"/>
          <p:nvPr/>
        </p:nvSpPr>
        <p:spPr>
          <a:xfrm>
            <a:off x="6248400" y="2260600"/>
            <a:ext cx="5334000" cy="276999"/>
          </a:xfrm>
          <a:prstGeom prst="rect">
            <a:avLst/>
          </a:prstGeom>
          <a:noFill/>
        </p:spPr>
        <p:txBody>
          <a:bodyPr vert="horz" wrap="square" lIns="0" tIns="0" rIns="0" bIns="0" rtlCol="0">
            <a:noAutofit/>
          </a:bodyPr>
          <a:lstStyle/>
          <a:p>
            <a:r>
              <a:rPr lang="en-US" sz="1700">
                <a:solidFill>
                  <a:srgbClr val="1A3D33"/>
                </a:solidFill>
                <a:latin typeface="Aptos" panose="020B0004020202020204" pitchFamily="34" charset="0"/>
              </a:rPr>
              <a:t>1  Validates the destination and trip details.
2  Generates a day plan from available place data and the configured AI provider.
3  Recalculates budget context, saves the trip, supports editing, and connects activities to maps.</a:t>
            </a:r>
          </a:p>
        </p:txBody>
      </p:sp>
      <p:sp>
        <p:nvSpPr>
          <p:cNvPr id="8" name="Rectangle 7">
            <a:extLst>
              <a:ext uri="{FF2B5EF4-FFF2-40B4-BE49-F238E27FC236}">
                <a16:creationId xmlns:a16="http://schemas.microsoft.com/office/drawing/2014/main" id="{1DDE66F2-B3DF-E599-3C19-D861350E6D69}"/>
              </a:ext>
            </a:extLst>
          </p:cNvPr>
          <p:cNvSpPr/>
          <p:nvPr/>
        </p:nvSpPr>
        <p:spPr>
          <a:xfrm>
            <a:off x="5791200" y="1841500"/>
            <a:ext cx="25400" cy="3606800"/>
          </a:xfrm>
          <a:prstGeom prst="rect">
            <a:avLst/>
          </a:prstGeom>
          <a:solidFill>
            <a:srgbClr val="E2BB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B9F65E1-387B-D15B-DE24-A3815AA83C1A}"/>
              </a:ext>
            </a:extLst>
          </p:cNvPr>
          <p:cNvSpPr/>
          <p:nvPr/>
        </p:nvSpPr>
        <p:spPr>
          <a:xfrm>
            <a:off x="609600" y="5765800"/>
            <a:ext cx="10972800" cy="393700"/>
          </a:xfrm>
          <a:prstGeom prst="rect">
            <a:avLst/>
          </a:prstGeom>
          <a:solidFill>
            <a:srgbClr val="1028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BFDE6B2-EA45-23C6-C160-2239DEE602AC}"/>
              </a:ext>
            </a:extLst>
          </p:cNvPr>
          <p:cNvSpPr txBox="1"/>
          <p:nvPr/>
        </p:nvSpPr>
        <p:spPr>
          <a:xfrm>
            <a:off x="812800" y="5854700"/>
            <a:ext cx="10566400" cy="276999"/>
          </a:xfrm>
          <a:prstGeom prst="rect">
            <a:avLst/>
          </a:prstGeom>
          <a:noFill/>
        </p:spPr>
        <p:txBody>
          <a:bodyPr vert="horz" wrap="square" lIns="0" tIns="0" rIns="0" bIns="0" rtlCol="0">
            <a:noAutofit/>
          </a:bodyPr>
          <a:lstStyle/>
          <a:p>
            <a:pPr algn="ctr"/>
            <a:r>
              <a:rPr lang="en-US" sz="1400" b="1">
                <a:solidFill>
                  <a:srgbClr val="FFFFFF"/>
                </a:solidFill>
                <a:latin typeface="Aptos" panose="020B0004020202020204" pitchFamily="34" charset="0"/>
              </a:rPr>
              <a:t>Result: one reviewable itinerary instead of disconnected research and repeated manual calculations.</a:t>
            </a:r>
          </a:p>
        </p:txBody>
      </p:sp>
      <p:sp>
        <p:nvSpPr>
          <p:cNvPr id="11" name="TextBox 10">
            <a:extLst>
              <a:ext uri="{FF2B5EF4-FFF2-40B4-BE49-F238E27FC236}">
                <a16:creationId xmlns:a16="http://schemas.microsoft.com/office/drawing/2014/main" id="{82881C9A-A650-A56A-E337-009EF9F32BAF}"/>
              </a:ext>
            </a:extLst>
          </p:cNvPr>
          <p:cNvSpPr txBox="1"/>
          <p:nvPr/>
        </p:nvSpPr>
        <p:spPr>
          <a:xfrm>
            <a:off x="609600" y="6464300"/>
            <a:ext cx="2540000" cy="276999"/>
          </a:xfrm>
          <a:prstGeom prst="rect">
            <a:avLst/>
          </a:prstGeom>
          <a:noFill/>
        </p:spPr>
        <p:txBody>
          <a:bodyPr vert="horz" wrap="square" lIns="0" tIns="0" rIns="0" bIns="0" rtlCol="0">
            <a:noAutofit/>
          </a:bodyPr>
          <a:lstStyle/>
          <a:p>
            <a:r>
              <a:rPr lang="en-US" sz="900" b="1">
                <a:solidFill>
                  <a:srgbClr val="52675F"/>
                </a:solidFill>
                <a:latin typeface="Aptos" panose="020B0004020202020204" pitchFamily="34" charset="0"/>
              </a:rPr>
              <a:t>TravelMate Capstone</a:t>
            </a:r>
          </a:p>
        </p:txBody>
      </p:sp>
      <p:sp>
        <p:nvSpPr>
          <p:cNvPr id="12" name="TextBox 11">
            <a:extLst>
              <a:ext uri="{FF2B5EF4-FFF2-40B4-BE49-F238E27FC236}">
                <a16:creationId xmlns:a16="http://schemas.microsoft.com/office/drawing/2014/main" id="{B8DCC6F7-52E9-58C3-C094-9559800A1922}"/>
              </a:ext>
            </a:extLst>
          </p:cNvPr>
          <p:cNvSpPr txBox="1"/>
          <p:nvPr/>
        </p:nvSpPr>
        <p:spPr>
          <a:xfrm>
            <a:off x="11099800" y="6438900"/>
            <a:ext cx="482600" cy="276999"/>
          </a:xfrm>
          <a:prstGeom prst="rect">
            <a:avLst/>
          </a:prstGeom>
          <a:noFill/>
        </p:spPr>
        <p:txBody>
          <a:bodyPr vert="horz" wrap="square" lIns="0" tIns="0" rIns="0" bIns="0" rtlCol="0">
            <a:noAutofit/>
          </a:bodyPr>
          <a:lstStyle/>
          <a:p>
            <a:pPr algn="r"/>
            <a:r>
              <a:rPr lang="en-US" sz="1000" b="1">
                <a:solidFill>
                  <a:srgbClr val="52675F"/>
                </a:solidFill>
                <a:latin typeface="Aptos" panose="020B0004020202020204" pitchFamily="34" charset="0"/>
              </a:rPr>
              <a:t>04</a:t>
            </a:r>
          </a:p>
        </p:txBody>
      </p:sp>
    </p:spTree>
    <p:extLst>
      <p:ext uri="{BB962C8B-B14F-4D97-AF65-F5344CB8AC3E}">
        <p14:creationId xmlns:p14="http://schemas.microsoft.com/office/powerpoint/2010/main" val="2449815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CF091F-3C01-A56D-44C2-999E187B532B}"/>
              </a:ext>
            </a:extLst>
          </p:cNvPr>
          <p:cNvSpPr txBox="1"/>
          <p:nvPr/>
        </p:nvSpPr>
        <p:spPr>
          <a:xfrm>
            <a:off x="609600" y="482600"/>
            <a:ext cx="4572000" cy="276999"/>
          </a:xfrm>
          <a:prstGeom prst="rect">
            <a:avLst/>
          </a:prstGeom>
          <a:noFill/>
        </p:spPr>
        <p:txBody>
          <a:bodyPr vert="horz" wrap="square" lIns="0" tIns="0" rIns="0" bIns="0" rtlCol="0">
            <a:noAutofit/>
          </a:bodyPr>
          <a:lstStyle/>
          <a:p>
            <a:r>
              <a:rPr lang="en-US" sz="1000" b="1">
                <a:solidFill>
                  <a:srgbClr val="B14839"/>
                </a:solidFill>
                <a:latin typeface="Aptos" panose="020B0004020202020204" pitchFamily="34" charset="0"/>
              </a:rPr>
              <a:t> PROJECT FEATURES AND FUNCTIONS</a:t>
            </a:r>
          </a:p>
        </p:txBody>
      </p:sp>
      <p:sp>
        <p:nvSpPr>
          <p:cNvPr id="3" name="TextBox 2">
            <a:extLst>
              <a:ext uri="{FF2B5EF4-FFF2-40B4-BE49-F238E27FC236}">
                <a16:creationId xmlns:a16="http://schemas.microsoft.com/office/drawing/2014/main" id="{A6B50FA6-1CEF-E843-1267-DA0FCF96D279}"/>
              </a:ext>
            </a:extLst>
          </p:cNvPr>
          <p:cNvSpPr txBox="1"/>
          <p:nvPr/>
        </p:nvSpPr>
        <p:spPr>
          <a:xfrm>
            <a:off x="609600" y="863600"/>
            <a:ext cx="7747000" cy="276999"/>
          </a:xfrm>
          <a:prstGeom prst="rect">
            <a:avLst/>
          </a:prstGeom>
          <a:noFill/>
        </p:spPr>
        <p:txBody>
          <a:bodyPr vert="horz" wrap="square" lIns="0" tIns="0" rIns="0" bIns="0" rtlCol="0">
            <a:noAutofit/>
          </a:bodyPr>
          <a:lstStyle/>
          <a:p>
            <a:r>
              <a:rPr lang="en-US" sz="3400" b="1">
                <a:solidFill>
                  <a:srgbClr val="162A24"/>
                </a:solidFill>
                <a:latin typeface="Aptos Display" panose="020B0004020202020204" pitchFamily="34" charset="0"/>
              </a:rPr>
              <a:t>Users and system capabilities</a:t>
            </a:r>
          </a:p>
        </p:txBody>
      </p:sp>
      <p:sp>
        <p:nvSpPr>
          <p:cNvPr id="4" name="TextBox 3">
            <a:extLst>
              <a:ext uri="{FF2B5EF4-FFF2-40B4-BE49-F238E27FC236}">
                <a16:creationId xmlns:a16="http://schemas.microsoft.com/office/drawing/2014/main" id="{FE6898FD-CA6C-C955-236A-F9596B6C0324}"/>
              </a:ext>
            </a:extLst>
          </p:cNvPr>
          <p:cNvSpPr txBox="1"/>
          <p:nvPr/>
        </p:nvSpPr>
        <p:spPr>
          <a:xfrm>
            <a:off x="609600" y="1828800"/>
            <a:ext cx="3048000" cy="276999"/>
          </a:xfrm>
          <a:prstGeom prst="rect">
            <a:avLst/>
          </a:prstGeom>
          <a:noFill/>
        </p:spPr>
        <p:txBody>
          <a:bodyPr vert="horz" wrap="square" lIns="0" tIns="0" rIns="0" bIns="0" rtlCol="0">
            <a:noAutofit/>
          </a:bodyPr>
          <a:lstStyle/>
          <a:p>
            <a:r>
              <a:rPr lang="en-US" sz="1200" b="1">
                <a:solidFill>
                  <a:srgbClr val="1A3D33"/>
                </a:solidFill>
                <a:latin typeface="Aptos" panose="020B0004020202020204" pitchFamily="34" charset="0"/>
              </a:rPr>
              <a:t>FOR TRAVELERS</a:t>
            </a:r>
          </a:p>
        </p:txBody>
      </p:sp>
      <p:sp>
        <p:nvSpPr>
          <p:cNvPr id="5" name="TextBox 4">
            <a:extLst>
              <a:ext uri="{FF2B5EF4-FFF2-40B4-BE49-F238E27FC236}">
                <a16:creationId xmlns:a16="http://schemas.microsoft.com/office/drawing/2014/main" id="{2C9A7A6A-9CC1-2BA8-20B1-8F70E50FDD60}"/>
              </a:ext>
            </a:extLst>
          </p:cNvPr>
          <p:cNvSpPr txBox="1"/>
          <p:nvPr/>
        </p:nvSpPr>
        <p:spPr>
          <a:xfrm>
            <a:off x="609600" y="2235200"/>
            <a:ext cx="4826000" cy="276999"/>
          </a:xfrm>
          <a:prstGeom prst="rect">
            <a:avLst/>
          </a:prstGeom>
          <a:noFill/>
        </p:spPr>
        <p:txBody>
          <a:bodyPr vert="horz" wrap="square" lIns="0" tIns="0" rIns="0" bIns="0" rtlCol="0">
            <a:noAutofit/>
          </a:bodyPr>
          <a:lstStyle/>
          <a:p>
            <a:r>
              <a:rPr lang="en-US" sz="1600" dirty="0">
                <a:solidFill>
                  <a:srgbClr val="52675F"/>
                </a:solidFill>
                <a:latin typeface="Aptos" panose="020B0004020202020204" pitchFamily="34" charset="0"/>
              </a:rPr>
              <a:t>Plan trips from 1 to 31 days
Generate culture and interest-based activities
Review deterministic budget estimates
Edit, save, reopen, and complete trips
View route previews and record visited places</a:t>
            </a:r>
          </a:p>
        </p:txBody>
      </p:sp>
      <p:sp>
        <p:nvSpPr>
          <p:cNvPr id="6" name="TextBox 5">
            <a:extLst>
              <a:ext uri="{FF2B5EF4-FFF2-40B4-BE49-F238E27FC236}">
                <a16:creationId xmlns:a16="http://schemas.microsoft.com/office/drawing/2014/main" id="{DC7D262C-6C6C-E2D1-BC72-3E2D7BC57790}"/>
              </a:ext>
            </a:extLst>
          </p:cNvPr>
          <p:cNvSpPr txBox="1"/>
          <p:nvPr/>
        </p:nvSpPr>
        <p:spPr>
          <a:xfrm>
            <a:off x="609600" y="4432300"/>
            <a:ext cx="3175000" cy="276999"/>
          </a:xfrm>
          <a:prstGeom prst="rect">
            <a:avLst/>
          </a:prstGeom>
          <a:noFill/>
        </p:spPr>
        <p:txBody>
          <a:bodyPr vert="horz" wrap="square" lIns="0" tIns="0" rIns="0" bIns="0" rtlCol="0">
            <a:noAutofit/>
          </a:bodyPr>
          <a:lstStyle/>
          <a:p>
            <a:r>
              <a:rPr lang="en-US" sz="1200" b="1">
                <a:solidFill>
                  <a:srgbClr val="1A3D33"/>
                </a:solidFill>
                <a:latin typeface="Aptos" panose="020B0004020202020204" pitchFamily="34" charset="0"/>
              </a:rPr>
              <a:t>FOR ADMINISTRATORS</a:t>
            </a:r>
          </a:p>
        </p:txBody>
      </p:sp>
      <p:sp>
        <p:nvSpPr>
          <p:cNvPr id="7" name="TextBox 6">
            <a:extLst>
              <a:ext uri="{FF2B5EF4-FFF2-40B4-BE49-F238E27FC236}">
                <a16:creationId xmlns:a16="http://schemas.microsoft.com/office/drawing/2014/main" id="{30DEA963-D1DE-D530-D03C-04A2D34C88C1}"/>
              </a:ext>
            </a:extLst>
          </p:cNvPr>
          <p:cNvSpPr txBox="1"/>
          <p:nvPr/>
        </p:nvSpPr>
        <p:spPr>
          <a:xfrm>
            <a:off x="609600" y="4838700"/>
            <a:ext cx="4826000" cy="276999"/>
          </a:xfrm>
          <a:prstGeom prst="rect">
            <a:avLst/>
          </a:prstGeom>
          <a:noFill/>
        </p:spPr>
        <p:txBody>
          <a:bodyPr vert="horz" wrap="square" lIns="0" tIns="0" rIns="0" bIns="0" rtlCol="0">
            <a:noAutofit/>
          </a:bodyPr>
          <a:lstStyle/>
          <a:p>
            <a:r>
              <a:rPr lang="en-US" sz="1600">
                <a:solidFill>
                  <a:srgbClr val="52675F"/>
                </a:solidFill>
                <a:latin typeface="Aptos" panose="020B0004020202020204" pitchFamily="34" charset="0"/>
              </a:rPr>
              <a:t>Manage traveler accounts and status
Review feedback, reports, and moderation work
Monitor important system notifications</a:t>
            </a:r>
          </a:p>
        </p:txBody>
      </p:sp>
      <p:sp>
        <p:nvSpPr>
          <p:cNvPr id="8" name="Rectangle 7">
            <a:extLst>
              <a:ext uri="{FF2B5EF4-FFF2-40B4-BE49-F238E27FC236}">
                <a16:creationId xmlns:a16="http://schemas.microsoft.com/office/drawing/2014/main" id="{30FFC00A-67A0-75D4-2FA1-5355F0415977}"/>
              </a:ext>
            </a:extLst>
          </p:cNvPr>
          <p:cNvSpPr/>
          <p:nvPr/>
        </p:nvSpPr>
        <p:spPr>
          <a:xfrm>
            <a:off x="5930900" y="1828800"/>
            <a:ext cx="5651500" cy="3632200"/>
          </a:xfrm>
          <a:prstGeom prst="rect">
            <a:avLst/>
          </a:prstGeom>
          <a:solidFill>
            <a:srgbClr val="DCE7D8"/>
          </a:solidFill>
          <a:ln w="12700">
            <a:solidFill>
              <a:srgbClr val="DCE7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AE8F7C9-DF1F-A4CF-5A54-90DA5B42831B}"/>
              </a:ext>
            </a:extLst>
          </p:cNvPr>
          <p:cNvSpPr/>
          <p:nvPr/>
        </p:nvSpPr>
        <p:spPr>
          <a:xfrm>
            <a:off x="6083300" y="1981200"/>
            <a:ext cx="53467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B7083A1-301E-AF73-8C2D-7CE886B6CF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210712" y="1981200"/>
            <a:ext cx="5091877" cy="3327400"/>
          </a:xfrm>
          <a:prstGeom prst="rect">
            <a:avLst/>
          </a:prstGeom>
        </p:spPr>
      </p:pic>
      <p:sp>
        <p:nvSpPr>
          <p:cNvPr id="12" name="Rectangle 11">
            <a:extLst>
              <a:ext uri="{FF2B5EF4-FFF2-40B4-BE49-F238E27FC236}">
                <a16:creationId xmlns:a16="http://schemas.microsoft.com/office/drawing/2014/main" id="{F60F455F-1D6A-C907-0DC0-2B3F4A724E12}"/>
              </a:ext>
            </a:extLst>
          </p:cNvPr>
          <p:cNvSpPr/>
          <p:nvPr/>
        </p:nvSpPr>
        <p:spPr>
          <a:xfrm>
            <a:off x="5930900" y="5626100"/>
            <a:ext cx="5651500" cy="533400"/>
          </a:xfrm>
          <a:prstGeom prst="rect">
            <a:avLst/>
          </a:prstGeom>
          <a:solidFill>
            <a:srgbClr val="F5E5B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CF1E72-AF1A-C5F7-AEA7-D1D7C42F1F36}"/>
              </a:ext>
            </a:extLst>
          </p:cNvPr>
          <p:cNvSpPr txBox="1"/>
          <p:nvPr/>
        </p:nvSpPr>
        <p:spPr>
          <a:xfrm>
            <a:off x="6121400" y="5727700"/>
            <a:ext cx="5270500" cy="276999"/>
          </a:xfrm>
          <a:prstGeom prst="rect">
            <a:avLst/>
          </a:prstGeom>
          <a:noFill/>
        </p:spPr>
        <p:txBody>
          <a:bodyPr vert="horz" wrap="square" lIns="0" tIns="0" rIns="0" bIns="0" rtlCol="0">
            <a:noAutofit/>
          </a:bodyPr>
          <a:lstStyle/>
          <a:p>
            <a:pPr algn="ctr"/>
            <a:r>
              <a:rPr lang="en-US" sz="1200" b="1">
                <a:solidFill>
                  <a:srgbClr val="162A24"/>
                </a:solidFill>
                <a:latin typeface="Aptos" panose="020B0004020202020204" pitchFamily="34" charset="0"/>
              </a:rPr>
              <a:t>Secure sign-in, AI itinerary generation, weather context, accommodation suggestions, saved-trip history, maps, and visit records.</a:t>
            </a:r>
          </a:p>
        </p:txBody>
      </p:sp>
      <p:sp>
        <p:nvSpPr>
          <p:cNvPr id="14" name="TextBox 13">
            <a:extLst>
              <a:ext uri="{FF2B5EF4-FFF2-40B4-BE49-F238E27FC236}">
                <a16:creationId xmlns:a16="http://schemas.microsoft.com/office/drawing/2014/main" id="{605C447A-F208-8707-247F-C88220182EB8}"/>
              </a:ext>
            </a:extLst>
          </p:cNvPr>
          <p:cNvSpPr txBox="1"/>
          <p:nvPr/>
        </p:nvSpPr>
        <p:spPr>
          <a:xfrm>
            <a:off x="609600" y="6464300"/>
            <a:ext cx="2540000" cy="276999"/>
          </a:xfrm>
          <a:prstGeom prst="rect">
            <a:avLst/>
          </a:prstGeom>
          <a:noFill/>
        </p:spPr>
        <p:txBody>
          <a:bodyPr vert="horz" wrap="square" lIns="0" tIns="0" rIns="0" bIns="0" rtlCol="0">
            <a:noAutofit/>
          </a:bodyPr>
          <a:lstStyle/>
          <a:p>
            <a:r>
              <a:rPr lang="en-US" sz="900" b="1">
                <a:solidFill>
                  <a:srgbClr val="52675F"/>
                </a:solidFill>
                <a:latin typeface="Aptos" panose="020B0004020202020204" pitchFamily="34" charset="0"/>
              </a:rPr>
              <a:t>TravelMate Capstone</a:t>
            </a:r>
          </a:p>
        </p:txBody>
      </p:sp>
      <p:sp>
        <p:nvSpPr>
          <p:cNvPr id="15" name="TextBox 14">
            <a:extLst>
              <a:ext uri="{FF2B5EF4-FFF2-40B4-BE49-F238E27FC236}">
                <a16:creationId xmlns:a16="http://schemas.microsoft.com/office/drawing/2014/main" id="{46593C29-499D-EB03-C3F3-6C68E49CEB46}"/>
              </a:ext>
            </a:extLst>
          </p:cNvPr>
          <p:cNvSpPr txBox="1"/>
          <p:nvPr/>
        </p:nvSpPr>
        <p:spPr>
          <a:xfrm>
            <a:off x="11099800" y="6438900"/>
            <a:ext cx="482600" cy="276999"/>
          </a:xfrm>
          <a:prstGeom prst="rect">
            <a:avLst/>
          </a:prstGeom>
          <a:noFill/>
        </p:spPr>
        <p:txBody>
          <a:bodyPr vert="horz" wrap="square" lIns="0" tIns="0" rIns="0" bIns="0" rtlCol="0">
            <a:noAutofit/>
          </a:bodyPr>
          <a:lstStyle/>
          <a:p>
            <a:pPr algn="r"/>
            <a:r>
              <a:rPr lang="en-US" sz="1000" b="1">
                <a:solidFill>
                  <a:srgbClr val="52675F"/>
                </a:solidFill>
                <a:latin typeface="Aptos" panose="020B0004020202020204" pitchFamily="34" charset="0"/>
              </a:rPr>
              <a:t>05</a:t>
            </a:r>
          </a:p>
        </p:txBody>
      </p:sp>
    </p:spTree>
    <p:extLst>
      <p:ext uri="{BB962C8B-B14F-4D97-AF65-F5344CB8AC3E}">
        <p14:creationId xmlns:p14="http://schemas.microsoft.com/office/powerpoint/2010/main" val="1517686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688</Words>
  <Application>Microsoft Office PowerPoint</Application>
  <PresentationFormat>Widescreen</PresentationFormat>
  <Paragraphs>50</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Duke</dc:creator>
  <cp:lastModifiedBy>John Duke</cp:lastModifiedBy>
  <cp:revision>4</cp:revision>
  <dcterms:created xsi:type="dcterms:W3CDTF">2026-10-16T19:23:25Z</dcterms:created>
  <dcterms:modified xsi:type="dcterms:W3CDTF">2026-10-16T21:08:21Z</dcterms:modified>
</cp:coreProperties>
</file>